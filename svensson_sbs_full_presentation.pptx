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74520"/>
          </a:xfrm>
          <a:prstGeom prst="rect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Svensson Curve Methodology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 Implementation &amp; Our Approach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CDBCRP Pricing — From Theory to Production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Management &amp; ALM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389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Svensson Methodology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09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Formula, parameters, fitting process, constraints, iteration methods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2487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SBS Implementation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8072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regulator uses Svensson daily to price CDBCRPs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27896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3584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8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Implementation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044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differently and why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Svensson Methodology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parametric model that builds a continuous yield curve from 6 numbers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Svensson Spot Rate Formula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r(m) =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β₀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β₁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×[(1−e^(−m/τ₁))/(m/τ₁)]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β₂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×[(1−e^(−m/τ₁))/(m/τ₁) − e^(−m/τ₁)]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β₃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×[(1−e^(−m/τ₂))/(m/τ₂) − e^(−m/τ₂)]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931920" cy="68580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86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level. As m → ∞, r → β₀. The anchor.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240280"/>
            <a:ext cx="3931920" cy="68580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286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57800" y="2286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Slope. At m = 0, r(0) = β₀ + β₁. Decays toward zero via τ₁.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931920" cy="68580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08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108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hump. Zero at both ends, peaks at a tenor set by τ₁.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063240"/>
            <a:ext cx="3931920" cy="68580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108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3108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hump. Same shape, peaks at τ₂. Svensson's addition over Nelson-Siegel.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3931920" cy="68580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931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931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decay speed of slope + peak location of first hump.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886200"/>
            <a:ext cx="3931920" cy="68580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931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3931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peak location of second hump. Independent of τ₁.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parameters define the entire yield curve as a continuous function at any tenor.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Fitting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828800"/>
          </a:xfrm>
          <a:prstGeom prst="rect">
            <a:avLst/>
          </a:prstGeom>
          <a:solidFill>
            <a:srgbClr val="E8F4FA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Have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instruments, each with a known yield yᵢ at a specific remaining maturity mᵢ.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30 CDBCRPs scattered across 10d to 540d.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1828800"/>
          </a:xfrm>
          <a:prstGeom prst="rect">
            <a:avLst/>
          </a:prstGeom>
          <a:solidFill>
            <a:srgbClr val="E8F4FA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numbers (β₀, β₁, β₂, β₃, τ₁, τ₂) such that the Svensson curve passes as close as possible through all N points.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Fitting Process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5204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candidate set of 6 parameters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3133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313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instrument, evaluate Svensson at its tenor → model yield rᵢ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4223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1422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actual yield yᵢ and model yield rᵢ to prices: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Pᵢ = 100/(1+yᵢ)^(mᵢ/360)    Pᵢ(b) = 100/(1+rᵢ)^(mᵢ/360)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4531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4531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error: errorᵢ = (Pᵢ − Pᵢ(b)) / (Pᵢ × Dᵢ)  where Dᵢ = mᵢ/360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76402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76402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= Σ errorᵢ².  Repeat with different parameters until minimized.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Fit on Prices, Not Yields?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Yield-Space Fitting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 basis point yield error on a 30-day CD produces a price error of ~0.0008.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1bp error on a 360-day CD produces a price error of ~0.0096.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on raw yields treats both equally — but the economic impact is 12x different.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8229600" cy="146304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Price-Space Solution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term (Pᵢ − Pᵢ(b)) / (Pᵢ × Dᵢ) normalizes by Price × Duration.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ΔP ≈ −D × P × Δy, this converts price errors back to approximate yield errors.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tenors get fair weight in economic terms. This is the SBS-mandated objective (Annex 3).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Constraints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τ₁ &gt; 0,  τ₂ &gt; 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positive — otherwise the exponential terms divide by zero and the function is undefined.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τ₁, τ₂ ≤ max tenor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parameters shouldn't exceed the curve range. Beyond that, the basis functions flatten and become linearly dependent.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β₀ + β₁ ≥ 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overnight rate r(0) = β₀ + β₁ cannot be negative. This is economically required.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β₀, β₁, β₂, β₃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Unconstrained. The optimizer finds the right values from the data. No economic restriction on their sign or magnitude.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Iteration 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291840"/>
          </a:xfrm>
          <a:prstGeom prst="rect">
            <a:avLst/>
          </a:prstGeom>
          <a:solidFill>
            <a:srgbClr val="E8F4FA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Nonlinear Optimizer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 initial guess for all 6 parameters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gradient: which direction reduces the objective?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step in that direction, recompute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hundreds of iterations until convergence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start: use yesterday's parameters as the initial guess — faster, more stable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can get stuck in local minima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291840"/>
          </a:xfrm>
          <a:prstGeom prst="rect">
            <a:avLst/>
          </a:prstGeom>
          <a:solidFill>
            <a:srgbClr val="E8F4FA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8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Grid Search + 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for fixed τ₁, τ₂, Svensson is linear in the 4 betas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betas can be solved analytically via least squares — no iteration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2D grid of (τ₁, τ₂) pairs (e.g., 14,400 combinations)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pair, solve betas, compute objective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pair with lowest objective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78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minima — exhaustive search on the nonlinear dimensions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5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SBS Methodology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regulator uses Svensson to price CDBCRPs daily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Assemble the Fitting 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day, collect all CDBCRPs with a valid price from three sources (priority order):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" cy="5029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Auction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BCRP new issuance — freshest market-clearing information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486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121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Trade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3500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transaction between counterparties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5486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43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761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DATATEC Quote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9900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Bid-offer quotes from market makers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day validity: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price stays valid for 5 days. The fitting set includes today's auctions plus instruments that traded up to 5 days ago.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TIBO anchors the short end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day as the overnight reference.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6 valid prices required.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fewer, freeze yesterday's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2–4: Shift, Fit, Price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Map to Current Tenors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instrument's remaining maturity is computed as of today. A CD that traded 3 days ago at 90d remaining now sits at 87d. Its yield stays unchanged — no forward roll, no adjustment. Stale yields at shifted tenors.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0515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Fit the Svensson Curve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price-space objective: Σ [(Pᵢ − Pᵢ(b)) / (Pᵢ × Dᵢ)]²  subject to r(0) ≥ 0, τ₁ &gt; 0, τ₂ &gt; 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produces the 6 Svensson parameters for the 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Price All Outstanding CDBCRPs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fitted curve at every outstanding CD's remaining maturity → model yield → price via P = 100/(1+r)^(m/360). This is the official valuation (vector de precios).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on Different Days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7043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Auction 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yield enters the fitting set. Svensson re-optimizes — the new issue shifts all 6 parameters simultaneously, repricing the entire curve globally. One data point moves every yield.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048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New Information 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instruments as yesterday, but each has a 1-day-shorter tenor. Same yields. Svensson re-fits to the shifted tenors — a passive roll-down effect, not a forward roll. The curve evolves as instruments 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393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Than 6 Valid Prices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yesterday's parameters. Each CD is priced at its new shorter tenor on the frozen curve — pure roll-down with no re-estimation.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789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Implementation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framework, sharper inputs, automated pipeline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Differences vs SBS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Fitting Set Depth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325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business days of stale instruments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325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t−1 instruments (1 day stale). Cleaner inputs, less noise from old prices.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TIBO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1920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Short-end anchor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1920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today's TIBO — current monetary policy conditions reflected daily.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14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Issue Detection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514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system-fed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2514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Automatic: compare ISIN sets between today and yesterday.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Gap-Filling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108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CDBCRP-NR + Soberano 1Y/1.5Y/2Y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3108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Purely CDBCRPs + TIBO. Self-contained curve.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E8F4F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03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3703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specified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703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tested: nonlinear optimizer with warm start, and grid search + OLS.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297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Frozen Fallback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 6 valid prices, freeze params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4297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re-fit (~30 instruments from yesterday always available).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Daily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411480" cy="411480"/>
          </a:xfrm>
          <a:prstGeom prst="ellipse">
            <a:avLst/>
          </a:prstGeom>
          <a:solidFill>
            <a:srgbClr val="2789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0332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yesterday's instruments from database (ISIN, yield, days to maturity)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27896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819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tenors by calendar day gap (weekend = 3 days). Yields unchanged.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411480" cy="411480"/>
          </a:xfrm>
          <a:prstGeom prst="ellipse">
            <a:avLst/>
          </a:prstGeom>
          <a:solidFill>
            <a:srgbClr val="27896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1305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today's TIBO at 1 day as short-end anchor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278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6791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new issues (ISINs in today not in yesterday). If found, add with actual yield and tenor.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27896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2278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Svensson using SBS price-space objective: Min Σ [(Pᵢ−Pᵢ(b))/(Pᵢ×Dᵢ)]²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27896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7764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fitted curve at each actual instrument's tenor → forecast yield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27896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3251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forecast vs actual instrument yield → error metric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Tool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E8F4FA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Inputs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TIBO rate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issues: tenor (days) and yield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pulls yesterday's instruments automatically from the database.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2560320"/>
          </a:xfrm>
          <a:prstGeom prst="rect">
            <a:avLst/>
          </a:prstGeom>
          <a:solidFill>
            <a:srgbClr val="E8F4FA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8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Instrument-level Svensson yields — each ISIN with its model-implied yield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at custom tenors: 1d (TIBO), 30d, 60d, ... 720d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issues auto-named: CD{ddMMMYY} from maturity 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Svensson parameters for warm-starting next day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Svensson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parameters define the entire yield curve. The formula decomposes any curve shape into level, slope, and two humps — each with intuitive economic meaning.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SBS Implementation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re-fit on valid prices (5-day window) using the price-space objective. New auctions reprice the entire curve globally through the parametric structure. Stale yields at shifted tenors — no forward roll.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framework, cleaner inputs (t−1 only), automated new-issue detection, two optimization methods tested. Production tool requires only 3 manual inputs; everything else is database-driven.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Svensson &amp; SBS Curve Methodology</dc:title>
  <dc:subject>PptxGenJS Presentation</dc:subject>
  <dc:creator>Market Risk</dc:creator>
  <cp:lastModifiedBy>Market Risk</cp:lastModifiedBy>
  <cp:revision>1</cp:revision>
  <dcterms:created xsi:type="dcterms:W3CDTF">2026-05-13T06:24:36Z</dcterms:created>
  <dcterms:modified xsi:type="dcterms:W3CDTF">2026-05-13T06:24:36Z</dcterms:modified>
</cp:coreProperties>
</file>